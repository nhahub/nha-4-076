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SATELLITE MISSION OPERATIONS</a:t>
            </a:r>
            <a:br/>
            <a:r>
              <a:t>MONITORING SYSTEM</a:t>
            </a:r>
          </a:p>
          <a:p>
            <a:br/>
            <a:pPr>
              <a:defRPr sz="1500">
                <a:solidFill>
                  <a:srgbClr val="BBBBBB"/>
                </a:solidFill>
              </a:defRPr>
            </a:pPr>
            <a:r>
              <a:t>Digital Egypt Pioneers Initiative (DEPI) — Round 4</a:t>
            </a:r>
            <a:br/>
            <a:r>
              <a:t>Instructor: Eng. Mohamed Hamed</a:t>
            </a:r>
            <a:br/>
            <a:br/>
            <a:r>
              <a:t>Team Members:</a:t>
            </a:r>
            <a:br/>
            <a:r>
              <a:t>- Jana Mohamed Hassan Habachy (Project Lead)</a:t>
            </a:r>
            <a:br/>
            <a:r>
              <a:t>- Hanin Galal (Data Processing)</a:t>
            </a:r>
            <a:br/>
            <a:r>
              <a:t>- Malak Assal (Pipeline Orchestration)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1. Introduction &amp; Operational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Aerospace Ground Systems: Satellite mission configurations demand real-time telemetry analytics to ensure asset health and nominal structural communications loops.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Data Dynamics: High-frequency state vectors map orbital velocities, signal tracking decibels, and telemetry link characteristics continuously.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The Risk Profile: Unhandled processing lag or schema variations drop tracking intervals, leading to lost contact window paths during critical low-horizon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Rigid Legacy Infrastructure: Traditional setups store unstructured tracking dumps, shifting validation workloads entirely onto end-user BI dashboard interfaces.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Data Platform Vulnerabilities: Schema drift causes downstream calculation failures, missing data tracking context, and massive resource overruns via sequential directory table scans.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Integration Obstacles: Static snapshot CSV files limit engineering teams from verifying automated pipeline scaling behaviors or runtime exception handling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3.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Dynamic Procedural Modeling: Replace static sheets with a live physics-driven simulation engine modeling physical link properties dynamically.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Transactional Isolation: Structure a 3-tier Medallion architecture using managed Delta Lake files to preserve clean audit data lineage.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Automated Quality Enforcement: Code a standalone PySpark parsing script to validate payloads and run automated error routing.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Algorithmic Incident Monitoring: Group communication pass statistics inside window loops to track link drops and outages.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Centralized Automation: Program a master execution script capable of orchestrating notebook dependencies cleanly.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4. Technology Stack Justifications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Azure Databricks: Offers unified notebook collaboration, horizontal worker nodes scaling, and simple cluster resource provisioning.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Apache Spark &amp; PySpark API: Provides native multi-node execution optimizations, distributed structured DataFrame calculations, and lazy evaluation loops.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Delta Lake Core Engine: Brings full ACID transactions, metadata versioning history, and automated schema enforcement rules to open parquet storage types.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Skyfield Astronomy API: Runs high-precision astronomical vector computing using standard NORAD TLE parameters and SGP4 mechanics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5. End-to-End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Orchestration Layer: Central pipeline wrapper automates execution dependencies sequentially across the environment workspace paths.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Ingestion Loop: Captures high-frequency tracking records dynamically and appends them to historical tables with zero structural transformations.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Conditioning Layer: Casts system primitives, drops processing duplicates, and verifies physics parameters dynamically.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Reporting Store: Segregates clean summaries into analytical business tables ready for visualization layout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6. Ingestion &amp; Simulation Processing (NB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Satellite Target Focus: Simulates International Space Station (ISS) tracking arcs using dynamic TLE parameter updates.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Terrestrial Coordinates Reference: Maps orbital trajectories relative to localized ground terminal metrics (Cairo Terminal Coordinates).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Physics-Linked Generation: Integrates tracking variables programmatically (e.g., lower visibility elevations automatically reduce signal strength values).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Telemetry Parameter Core: Computes linear range distances, horizontal azimuth paths, packet drops, and transmission rate megabits.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7. The Medallion Architecture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Refinement Rationale: Isolating processing phases blocks systemic schema corruptions from propagating to final analytical layers.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Bronze Storage Layer: Raw table dump. Preserves complete historical context and full lineage records for time-travel auditing blocks.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Silver Storage Layer: The single source of structural truth. Enforces verified types, boundary checks, and deduplicated entries.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Gold Storage Layer: Final reporting tables. Computes optimized aggregations designed for fast user dashboard indexing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8. Bronze Storage Tier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Table Target Assignment: Registered directly in the workspace environment directory as the managed 'bronze_telemetry' table.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Data Character Profile: Stores raw input records containing complete programmatic simulation strings exactly as synthesized by the engine.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Metadata Enrichment: Appends operational audit tags locally (`ingested_at` timestamps, `source_mode` configuration indicators).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ACID Protection: Delta Lake log prevents data corruption if the generation script terminates mid-cycle.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9. Silver Tier Quality &amp; Validation Gate (NB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Data Cleaning Task: Extracts entries from Bronze, evaluates data strings, and casts parameters to explicit double-precision types.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The Validation Vector: Measures incoming lines against multi-variable physical constraints using strict boolean parameters.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Routing Pipeline Logic: Records meeting validation parameters proceed to deduplication stages; failed lines are isolated immediately.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Deduplication Loop: Evaluates timestamp markers against active tracking pass numbers to drop duplicate entries safely.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10. Enforced Data Conditioning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Timestamp Enforcement: Checks for null datetime fields to protect chronological ordering strings down the pipeline.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Elevation Controls: Validates vertical coordinates strictly within real boundaries between 0 and 90 degrees.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Directional Azimuth Controls: Restricts tracking loops to standard horizontal compass headings between 0 and 360 degrees.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Calculated Range Verification: Confirms absolute distance metrics remain strictly positive values greater than 0 km.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Link Budget Constraints: Keeps calculated signal quality values and packet loss numbers strictly between 0.0 and 1.0.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11. Anomaly Routing &amp; Reject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The Rejection Pathway: Non-compliant lines are redirected to stop corruption risks from leaking to reporting models.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Target Reject Table: Appends rows directly to an isolated system table registered as `silver_rejected`.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Lineage Preservation: Preserves all original raw metrics fields without modifying values, maintaining full operational history.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Error Metadata Handling: Injects dynamic failure reasons (e.g., `[FAIL:ELEVATION_RANGE]`) alongside processing timestamps.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12. Gold Analytical 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Business Logic Integration: Aggregates silver tracking records into distinct structural tables optimized for presentation.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Performance Optimization: Computes expensive SQL aggregations once on the server cluster, avoiding real-time calculation drops on the dashboard.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Structural Separation: Organizes data views across 4 unique tables: `gold_signal_kpi`, `gold_pass_analytics`, `gold_timeseries`, and `gold_alerts`.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Metadata Appends: Records clear execution logs (`computed_at` metadata) to track table update timelines.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13. Operational Alert Engine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Link Performance Monitoring: Monitors tracking metrics across communication blocks using automated query filters.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High Packet Loss Flag: Tracks passes that average an elevated packet drop ratio greater than 0.5.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Weak Signal Flag: Flags communication passes that drop below an average signal quality metric of 0.3.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Outage Track Flags: Uses Window lagging functions to measure timestamp differences; gaps over 60s trigger an outage alert.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14. Incident Severity Matrix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System Status Categorization: Maps operational conditions into distinct reporting indicators using clear business rules.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NOMINAL State: All link parameters and tracking metrics remain within normal, safe boundaries.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WARNING State: Triggered if either an elevated packet loss OR a weak signal condition is found during a pass.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CRITICAL State: Triggered when poor signal quality AND elevated packet drops occur simultaneously within the same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15. Analytical Data Views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gold_signal_kpi: Unified single-row table tracking overall mission averages, standard deviations, and window extremes.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gold_pass_analytics: Detailed pass catalog recording specific boundaries (AOS/LOS times, pass durations, peak tracking angles).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gold_timeseries: Aggregates metrics into rolling 1-minute historical buckets to drive smooth interface visuals.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gold_alerts: Incident reference log tracking final warning and critical status summaries across tracking passes.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16. Power BI Dashboard Design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Reporting Environment Layout: Built around a clean, three-page interactive framework to display mission insights.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Page 1 (Mission Overview): Displays overarching KPI metrics and charts signal stability parameters across tracking windows.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Page 2 (Pass Analytics): Audits tracking passes via detailed summary grids connected to interactive visibility bar charts.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Page 3 (Alert Monitoring): Tracks exceptions using conditional formatting (Red for Critical, Orange for Warning) to call out link drops.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1A1A2E"/>
                </a:solidFill>
              </a:defRPr>
            </a:pPr>
            <a:r>
              <a:t>17. Engineering Challenges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Permission Blocks: Shared catalog directory rules blocked standard path strings (`dbfs:/`) due to strict Unity Catalog policies.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The System Adjustment: Updated notebooks to use managed table scripts via the `.saveAsTable()` API, managing table schemas automatically.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Connector Resource Constraints: Cluster security rules on the free tier blocked remote JDBC direct query connections from desktop systems.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The System Pivot: Exported Gold layers to structured, validated CSV files for local processing, preserving all relational model layouts.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18. Long-Term Platform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Streaming Architecture: Integrating Apache Kafka modules to move from scheduled batch runs to live, real-time telemetry processing.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Live API Integration: Connecting our ingestion layer to public astronomy portals to pull and evaluate real-world satellite arrays.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Intelligent Alerting: Training automated machine learning models (such as Isolation Forests) to detect tracking errors without manual rules.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Operations Automation: Packaging scripts with Docker containers and configuring automated email or SMS incident warning loops.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E94560"/>
                </a:solidFill>
              </a:defRPr>
            </a:pPr>
            <a:r>
              <a:t>19. Project 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Fulfills Capstone Goals: Establishes a complete data platform that bridges astronomical modeling with scalable big data designs.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Data Integrity Ensured: Delta Lake engine patterns guarantee transaction safety, schema protection, and full data histories.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Core Project Takeaway: Implementing a clear separation of concerns across Medallion layers yields clean, resilient enterprise data lakes.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Open for Questions — Thank you for your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